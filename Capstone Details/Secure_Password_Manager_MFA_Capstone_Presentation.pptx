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6" r:id="rId18"/>
    <p:sldId id="277" r:id="rId19"/>
    <p:sldId id="27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-56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5488"/>
            <a:ext cx="1133856" cy="1344168"/>
          </a:xfrm>
          <a:prstGeom prst="rect">
            <a:avLst/>
          </a:prstGeom>
        </p:spPr>
      </p:pic>
      <p:pic>
        <p:nvPicPr>
          <p:cNvPr id="3" name="Picture 2" descr="s1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9184"/>
            <a:ext cx="1517904" cy="1344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67912" y="402336"/>
            <a:ext cx="4032504" cy="461665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2400" b="1" i="0">
                <a:solidFill>
                  <a:srgbClr val="000000"/>
                </a:solidFill>
                <a:latin typeface="Times New Roman"/>
              </a:defRPr>
            </a:pPr>
            <a:r>
              <a:t>SIMATS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1115568"/>
            <a:ext cx="7479792" cy="3375283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2000" b="0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SAVEETHA INSTITUTE OF MEDICAL AND</a:t>
            </a:r>
          </a:p>
          <a:p>
            <a:pPr algn="ctr">
              <a:spcAft>
                <a:spcPts val="500"/>
              </a:spcAft>
              <a:defRPr sz="2000" b="0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TECHNICAL SCIENCES</a:t>
            </a:r>
          </a:p>
          <a:p>
            <a:pPr algn="ctr">
              <a:spcAft>
                <a:spcPts val="500"/>
              </a:spcAft>
              <a:defRPr sz="2000" b="0" i="0">
                <a:solidFill>
                  <a:srgbClr val="000000"/>
                </a:solidFill>
                <a:latin typeface="Times New Roman"/>
              </a:defRPr>
            </a:pPr>
            <a:endParaRPr dirty="0"/>
          </a:p>
          <a:p>
            <a:pPr algn="ctr">
              <a:spcAft>
                <a:spcPts val="500"/>
              </a:spcAft>
              <a:defRPr sz="2000" b="0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Capstone project presentation</a:t>
            </a:r>
          </a:p>
          <a:p>
            <a:pPr algn="ctr">
              <a:spcAft>
                <a:spcPts val="500"/>
              </a:spcAft>
              <a:defRPr sz="2000" b="0" i="0">
                <a:solidFill>
                  <a:srgbClr val="000000"/>
                </a:solidFill>
                <a:latin typeface="Times New Roman"/>
              </a:defRPr>
            </a:pPr>
            <a:endParaRPr dirty="0"/>
          </a:p>
          <a:p>
            <a:pPr algn="ctr">
              <a:spcAft>
                <a:spcPts val="500"/>
              </a:spcAft>
              <a:defRPr sz="2000" b="0" i="0">
                <a:solidFill>
                  <a:srgbClr val="000000"/>
                </a:solidFill>
                <a:latin typeface="Times New Roman"/>
              </a:defRPr>
            </a:pPr>
            <a:endParaRPr lang="en-GB" dirty="0" smtClean="0"/>
          </a:p>
          <a:p>
            <a:pPr algn="ctr">
              <a:spcAft>
                <a:spcPts val="500"/>
              </a:spcAft>
              <a:defRPr sz="2000" b="0" i="0">
                <a:solidFill>
                  <a:srgbClr val="000000"/>
                </a:solidFill>
                <a:latin typeface="Times New Roman"/>
              </a:defRPr>
            </a:pPr>
            <a:endParaRPr lang="en-GB" dirty="0"/>
          </a:p>
          <a:p>
            <a:pPr algn="ctr">
              <a:spcAft>
                <a:spcPts val="500"/>
              </a:spcAft>
              <a:defRPr sz="2000" b="0" i="0">
                <a:solidFill>
                  <a:srgbClr val="000000"/>
                </a:solidFill>
                <a:latin typeface="Times New Roman"/>
              </a:defRPr>
            </a:pPr>
            <a:endParaRPr dirty="0"/>
          </a:p>
          <a:p>
            <a:pPr algn="ctr">
              <a:spcAft>
                <a:spcPts val="500"/>
              </a:spcAft>
              <a:defRPr sz="2000" b="0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CSA5115 - CRYPTOGRAPHY AND NETWORK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5476" y="2803209"/>
            <a:ext cx="6629400" cy="92589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2500" b="1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Secure Password Manager with</a:t>
            </a:r>
          </a:p>
          <a:p>
            <a:pPr algn="ctr">
              <a:spcAft>
                <a:spcPts val="500"/>
              </a:spcAft>
              <a:defRPr sz="2500" b="1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Multi-Factor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038344"/>
            <a:ext cx="3044952" cy="61811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t>Guided By:</a:t>
            </a:r>
          </a:p>
          <a:p>
            <a:pPr algn="ctr">
              <a:spcAft>
                <a:spcPts val="500"/>
              </a:spcAft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t>Dr. T. Sangeetha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4846320"/>
            <a:ext cx="4572000" cy="1417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t>Presented by:</a:t>
            </a:r>
          </a:p>
          <a:p>
            <a:pPr algn="ctr">
              <a:spcAft>
                <a:spcPts val="50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t>N.S.V.L. Kavya - 192373036</a:t>
            </a:r>
          </a:p>
          <a:p>
            <a:pPr algn="ctr">
              <a:spcAft>
                <a:spcPts val="50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t>K Tejaswi Reddy - 192371036</a:t>
            </a:r>
          </a:p>
          <a:p>
            <a:pPr algn="ctr">
              <a:spcAft>
                <a:spcPts val="50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t>K. Lahari Reddy - 192411164</a:t>
            </a:r>
          </a:p>
          <a:p>
            <a:pPr algn="ctr">
              <a:spcAft>
                <a:spcPts val="50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t>P. Pragna - 192321061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5488"/>
            <a:ext cx="1133856" cy="1344168"/>
          </a:xfrm>
          <a:prstGeom prst="rect">
            <a:avLst/>
          </a:prstGeom>
        </p:spPr>
      </p:pic>
      <p:pic>
        <p:nvPicPr>
          <p:cNvPr id="3" name="Picture 2" descr="s1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9184"/>
            <a:ext cx="1517904" cy="1344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4265" y="612648"/>
            <a:ext cx="7498079" cy="83099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000000"/>
                </a:solidFill>
                <a:latin typeface="Times New Roman"/>
              </a:defRPr>
            </a:pPr>
            <a:r>
              <a:rPr sz="4800" dirty="0"/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10561320" cy="5186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Modern users manage many online accounts and need a practical way to store and protect multiple credentials.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Password-only authentication is vulnerable to password theft, guessing, phishing, and password reuse.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A password manager centralizes credentials, but </a:t>
            </a:r>
            <a:r>
              <a:rPr sz="2200" dirty="0" smtClean="0"/>
              <a:t>the </a:t>
            </a:r>
            <a:r>
              <a:rPr sz="2200" dirty="0"/>
              <a:t>password vault itself becomes a high-value target.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Multifactor Authentication (MFA) adds a second verification step before protected access is granted.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The proposed system combines secure password management, OTP-based MFA, and audit logging.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The project applies cryptography and network-security principles to a practical software application</a:t>
            </a:r>
            <a:r>
              <a:rPr sz="2200" dirty="0" smtClean="0"/>
              <a:t>.</a:t>
            </a:r>
            <a:endParaRPr lang="en-GB" sz="2200" dirty="0" smtClean="0"/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endParaRPr sz="2200" dirty="0"/>
          </a:p>
        </p:txBody>
      </p:sp>
      <p:sp>
        <p:nvSpPr>
          <p:cNvPr id="6" name="TextBox 5"/>
          <p:cNvSpPr txBox="1"/>
          <p:nvPr/>
        </p:nvSpPr>
        <p:spPr>
          <a:xfrm>
            <a:off x="5623560" y="6419088"/>
            <a:ext cx="6400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5488"/>
            <a:ext cx="1133856" cy="1344168"/>
          </a:xfrm>
          <a:prstGeom prst="rect">
            <a:avLst/>
          </a:prstGeom>
        </p:spPr>
      </p:pic>
      <p:pic>
        <p:nvPicPr>
          <p:cNvPr id="3" name="Picture 2" descr="s1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9184"/>
            <a:ext cx="1517904" cy="1344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0" y="612648"/>
            <a:ext cx="7498079" cy="83099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000000"/>
                </a:solidFill>
                <a:latin typeface="Times New Roman"/>
              </a:defRPr>
            </a:pPr>
            <a:r>
              <a:rPr sz="4800" dirty="0"/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10561320" cy="4732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The Secure Password Manager with Multi-Factor Authentication is a web-based application for securely storing, managing, and retrieving user credentials.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Passwords are protected before storage, while OTP verification provides an additional authentication factor during login.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After successful primary authentication, a time-limited OTP is generated and verified before protected vault access is granted.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The system supports password storage, retrieval, updating and deletion, together with audit logging of defined security activities.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Functional and security-oriented tests cover registration, login, password protection, OTP verification, access control, and logging.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The proposed solution provides stronger credential protection while remaining practical for software-only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6419088"/>
            <a:ext cx="6400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5488"/>
            <a:ext cx="1133856" cy="1344168"/>
          </a:xfrm>
          <a:prstGeom prst="rect">
            <a:avLst/>
          </a:prstGeom>
        </p:spPr>
      </p:pic>
      <p:pic>
        <p:nvPicPr>
          <p:cNvPr id="3" name="Picture 2" descr="s1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9184"/>
            <a:ext cx="1517904" cy="1344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08860" y="678102"/>
            <a:ext cx="7498079" cy="646331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000000"/>
                </a:solidFill>
                <a:latin typeface="Times New Roman"/>
              </a:defRPr>
            </a:pPr>
            <a:r>
              <a:rPr sz="3600" dirty="0"/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01793"/>
            <a:ext cx="10561320" cy="4054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Users often reuse or store passwords insecurely because remembering many unique credentials is difficult.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Password-only authentication creates a single point of failure when credentials are stolen or guessed.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Compromise of a password-manager account can expose several stored credentials.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Unauthorized users may attempt to access the password vault using stolen login credentials.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The system must securely handle authentication, credential storage, OTP verification, access control, and activity logging.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Therefore, a password manager with an additional authentication factor is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6419088"/>
            <a:ext cx="6400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5488"/>
            <a:ext cx="1133856" cy="1344168"/>
          </a:xfrm>
          <a:prstGeom prst="rect">
            <a:avLst/>
          </a:prstGeom>
        </p:spPr>
      </p:pic>
      <p:pic>
        <p:nvPicPr>
          <p:cNvPr id="3" name="Picture 2" descr="s1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9184"/>
            <a:ext cx="1517904" cy="1344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0" y="612648"/>
            <a:ext cx="7498079" cy="70788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000000"/>
                </a:solidFill>
                <a:latin typeface="Times New Roman"/>
              </a:defRPr>
            </a:pPr>
            <a:r>
              <a:rPr sz="4000" dirty="0"/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203"/>
            <a:ext cx="10561320" cy="3039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To design a secure password-management architecture incorporating user authentication and OTP-based MFA.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To develop a user registration and login module with input and credential validation.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To implement secure password protection and database storage.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To implement OTP generation, verification, expiration, and invalid-OTP handling.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To provide authenticated password retrieval and audit logging of important activities.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To test and evaluate security, reliability, response time, and authentication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6419088"/>
            <a:ext cx="6400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5488"/>
            <a:ext cx="1133856" cy="1344168"/>
          </a:xfrm>
          <a:prstGeom prst="rect">
            <a:avLst/>
          </a:prstGeom>
        </p:spPr>
      </p:pic>
      <p:pic>
        <p:nvPicPr>
          <p:cNvPr id="3" name="Picture 2" descr="s1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9184"/>
            <a:ext cx="1517904" cy="1344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19225" y="612648"/>
            <a:ext cx="7498079" cy="70788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000000"/>
                </a:solidFill>
                <a:latin typeface="Times New Roman"/>
              </a:defRPr>
            </a:pPr>
            <a:r>
              <a:rPr sz="4000" dirty="0"/>
              <a:t>EXISTING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609" y="2128428"/>
            <a:ext cx="4623191" cy="411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Traditional authentication uses a username and password as the primary access mechanism.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Conventional password managers store multiple credentials in a centralized vault protected by a master credential.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Some commercial systems provide MFA, but authentication and recovery workflows vary across implementations.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Basic process: User → Username/Password → Credential Verification → Password Vault Access.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The main security concern is that compromise of the primary credential can expose the protected vault.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The proposed system strengthens this workflow by requiring OTP verification before vault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6419088"/>
            <a:ext cx="6400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2181683"/>
            <a:ext cx="6096000" cy="34009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GB" sz="2600" b="1" dirty="0" smtClean="0"/>
              <a:t>DRAWBACKS -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GB" dirty="0" smtClean="0"/>
              <a:t>• </a:t>
            </a:r>
            <a:r>
              <a:rPr lang="en-GB" dirty="0"/>
              <a:t>Password theft can directly result in unauthorized account access.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GB" dirty="0"/>
              <a:t>• Password reuse increases the impact of a compromised credential.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GB" dirty="0"/>
              <a:t>• A vault protected only by a password may remain exposed after master-password compromise.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GB" dirty="0"/>
              <a:t>• Weak or predictable passwords can reduce overall security.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GB" dirty="0"/>
              <a:t>• Limited activity logging can make suspicious access difficult to investigate.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GB" dirty="0"/>
              <a:t>• Additional security mechanisms can increase complexity if usability is not considered.</a:t>
            </a: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5488"/>
            <a:ext cx="1133856" cy="1344168"/>
          </a:xfrm>
          <a:prstGeom prst="rect">
            <a:avLst/>
          </a:prstGeom>
        </p:spPr>
      </p:pic>
      <p:pic>
        <p:nvPicPr>
          <p:cNvPr id="3" name="Picture 2" descr="s1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9184"/>
            <a:ext cx="1517904" cy="1344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0" y="612648"/>
            <a:ext cx="7498079" cy="70788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000000"/>
                </a:solidFill>
                <a:latin typeface="Times New Roman"/>
              </a:defRPr>
            </a:pPr>
            <a:r>
              <a:rPr sz="4000" dirty="0"/>
              <a:t>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315" y="2073723"/>
            <a:ext cx="10561320" cy="3716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The proposed system integrates secure password management with OTP-based Multifactor Authentication.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Working principle: User → Registration/Login → Credential Validation → OTP Generation → OTP Verification → Secure Vault.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After successful MFA, the user can store, retrieve, update, and delete protected credentials.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Audit logging records defined login and password-management activities.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Invalid credentials, incorrect OTPs, expired OTPs, and unauthorized requests are rejected.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The design provides an additional authentication barrier without requiring dedicated biometric hardware.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6419088"/>
            <a:ext cx="6400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5488"/>
            <a:ext cx="1133856" cy="1344168"/>
          </a:xfrm>
          <a:prstGeom prst="rect">
            <a:avLst/>
          </a:prstGeom>
        </p:spPr>
      </p:pic>
      <p:pic>
        <p:nvPicPr>
          <p:cNvPr id="3" name="Picture 2" descr="s1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9184"/>
            <a:ext cx="1517904" cy="1344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0" y="612648"/>
            <a:ext cx="7498079" cy="646331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000000"/>
                </a:solidFill>
                <a:latin typeface="Times New Roman"/>
              </a:defRPr>
            </a:pPr>
            <a:r>
              <a:rPr sz="3600" dirty="0"/>
              <a:t>SYSTEM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0645" y="2331720"/>
            <a:ext cx="1234440" cy="658368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latin typeface="Times New Roman"/>
              </a:defRPr>
            </a:pPr>
            <a:r>
              <a:rPr dirty="0"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43685" y="2331720"/>
            <a:ext cx="1417320" cy="658368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Registration /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35324" y="2331720"/>
            <a:ext cx="1417320" cy="658368"/>
          </a:xfrm>
          <a:prstGeom prst="roundRect">
            <a:avLst/>
          </a:prstGeom>
          <a:solidFill>
            <a:srgbClr val="E4F0E2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Credential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26965" y="2331720"/>
            <a:ext cx="1508760" cy="658368"/>
          </a:xfrm>
          <a:prstGeom prst="roundRect">
            <a:avLst/>
          </a:prstGeom>
          <a:solidFill>
            <a:srgbClr val="EDE5F7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OTP / MFA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10045" y="2331720"/>
            <a:ext cx="1554480" cy="658368"/>
          </a:xfrm>
          <a:prstGeom prst="roundRect">
            <a:avLst/>
          </a:prstGeom>
          <a:solidFill>
            <a:srgbClr val="F9EEDE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Secure Password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Vault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04005" y="3840480"/>
            <a:ext cx="1874519" cy="68580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Password Retrieval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&amp;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0005" y="3840480"/>
            <a:ext cx="1508760" cy="685800"/>
          </a:xfrm>
          <a:prstGeom prst="roundRect">
            <a:avLst/>
          </a:prstGeom>
          <a:solidFill>
            <a:srgbClr val="EDE5F7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Audit Logging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6565" y="3840480"/>
            <a:ext cx="1600200" cy="685800"/>
          </a:xfrm>
          <a:prstGeom prst="roundRect">
            <a:avLst/>
          </a:prstGeom>
          <a:solidFill>
            <a:srgbClr val="E4F0E2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Protected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Database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99455" y="2660904"/>
            <a:ext cx="228600" cy="0"/>
          </a:xfrm>
          <a:prstGeom prst="line">
            <a:avLst/>
          </a:prstGeom>
          <a:ln w="17780">
            <a:solidFill>
              <a:srgbClr val="1F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45375" y="2660904"/>
            <a:ext cx="274319" cy="0"/>
          </a:xfrm>
          <a:prstGeom prst="line">
            <a:avLst/>
          </a:prstGeom>
          <a:ln w="17780">
            <a:solidFill>
              <a:srgbClr val="1F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237015" y="2660904"/>
            <a:ext cx="274320" cy="0"/>
          </a:xfrm>
          <a:prstGeom prst="line">
            <a:avLst/>
          </a:prstGeom>
          <a:ln w="17780">
            <a:solidFill>
              <a:srgbClr val="1F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20095" y="2660904"/>
            <a:ext cx="274320" cy="0"/>
          </a:xfrm>
          <a:prstGeom prst="line">
            <a:avLst/>
          </a:prstGeom>
          <a:ln w="17780">
            <a:solidFill>
              <a:srgbClr val="1F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705895" y="2999232"/>
            <a:ext cx="365760" cy="841248"/>
          </a:xfrm>
          <a:prstGeom prst="line">
            <a:avLst/>
          </a:prstGeom>
          <a:ln w="17780">
            <a:solidFill>
              <a:srgbClr val="1F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562895" y="4178808"/>
            <a:ext cx="411480" cy="0"/>
          </a:xfrm>
          <a:prstGeom prst="line">
            <a:avLst/>
          </a:prstGeom>
          <a:ln w="17780">
            <a:solidFill>
              <a:srgbClr val="1F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911135" y="4178808"/>
            <a:ext cx="777240" cy="0"/>
          </a:xfrm>
          <a:prstGeom prst="line">
            <a:avLst/>
          </a:prstGeom>
          <a:ln w="17780">
            <a:solidFill>
              <a:srgbClr val="1F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51560" y="5074920"/>
            <a:ext cx="99669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000000"/>
                </a:solidFill>
                <a:latin typeface="Times New Roman"/>
              </a:defRPr>
            </a:pPr>
            <a:r>
              <a:t>Primary authentication → OTP/MFA → Secure vault access → Password management → Audit logging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6419088"/>
            <a:ext cx="6400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5488"/>
            <a:ext cx="1133856" cy="1344168"/>
          </a:xfrm>
          <a:prstGeom prst="rect">
            <a:avLst/>
          </a:prstGeom>
        </p:spPr>
      </p:pic>
      <p:pic>
        <p:nvPicPr>
          <p:cNvPr id="3" name="Picture 2" descr="s1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9184"/>
            <a:ext cx="1517904" cy="1344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64520" y="612648"/>
            <a:ext cx="7498079" cy="5232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000000"/>
                </a:solidFill>
                <a:latin typeface="Times New Roman"/>
              </a:defRPr>
            </a:pPr>
            <a:r>
              <a:rPr sz="2800" dirty="0"/>
              <a:t>AUTHENTICATION &amp; SECURITY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19560" y="2155859"/>
            <a:ext cx="1417320" cy="804672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Enter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Credentials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11200" y="2155859"/>
            <a:ext cx="1417320" cy="804672"/>
          </a:xfrm>
          <a:prstGeom prst="roundRect">
            <a:avLst/>
          </a:prstGeom>
          <a:solidFill>
            <a:srgbClr val="E4F0E2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Validate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Credentials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02839" y="2155859"/>
            <a:ext cx="1417320" cy="804672"/>
          </a:xfrm>
          <a:prstGeom prst="roundRect">
            <a:avLst/>
          </a:prstGeom>
          <a:solidFill>
            <a:srgbClr val="EDE5F7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Generate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OTP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4480" y="2155859"/>
            <a:ext cx="1417320" cy="804672"/>
          </a:xfrm>
          <a:prstGeom prst="roundRect">
            <a:avLst/>
          </a:prstGeom>
          <a:solidFill>
            <a:srgbClr val="F9EEDE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Deliver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OTP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86120" y="2155859"/>
            <a:ext cx="1417320" cy="804672"/>
          </a:xfrm>
          <a:prstGeom prst="roundRect">
            <a:avLst/>
          </a:prstGeom>
          <a:solidFill>
            <a:srgbClr val="EDE5F7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Verify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OTP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77760" y="2155859"/>
            <a:ext cx="1417320" cy="804672"/>
          </a:xfrm>
          <a:prstGeom prst="roundRect">
            <a:avLst/>
          </a:prstGeom>
          <a:solidFill>
            <a:srgbClr val="E4F0E2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Grant Vault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Access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6880" y="2558196"/>
            <a:ext cx="274320" cy="0"/>
          </a:xfrm>
          <a:prstGeom prst="line">
            <a:avLst/>
          </a:prstGeom>
          <a:ln w="17780">
            <a:solidFill>
              <a:srgbClr val="1F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28520" y="2558196"/>
            <a:ext cx="274319" cy="0"/>
          </a:xfrm>
          <a:prstGeom prst="line">
            <a:avLst/>
          </a:prstGeom>
          <a:ln w="17780">
            <a:solidFill>
              <a:srgbClr val="1F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20160" y="2558196"/>
            <a:ext cx="274320" cy="0"/>
          </a:xfrm>
          <a:prstGeom prst="line">
            <a:avLst/>
          </a:prstGeom>
          <a:ln w="17780">
            <a:solidFill>
              <a:srgbClr val="1F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11800" y="2558196"/>
            <a:ext cx="274320" cy="0"/>
          </a:xfrm>
          <a:prstGeom prst="line">
            <a:avLst/>
          </a:prstGeom>
          <a:ln w="17780">
            <a:solidFill>
              <a:srgbClr val="1F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403440" y="2558196"/>
            <a:ext cx="274320" cy="0"/>
          </a:xfrm>
          <a:prstGeom prst="line">
            <a:avLst/>
          </a:prstGeom>
          <a:ln w="17780">
            <a:solidFill>
              <a:srgbClr val="1F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61071" y="3794760"/>
            <a:ext cx="7223760" cy="804672"/>
          </a:xfrm>
          <a:prstGeom prst="roundRect">
            <a:avLst/>
          </a:prstGeom>
          <a:solidFill>
            <a:srgbClr val="F8E2E2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Invalid credentials / invalid OTP / expired OTP  →  Access Denied or Retry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59" y="4965114"/>
            <a:ext cx="99669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Security controls: protected credentials • OTP expiry • limited attempts • access control • audit logs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6419088"/>
            <a:ext cx="6400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5488"/>
            <a:ext cx="1133856" cy="1344168"/>
          </a:xfrm>
          <a:prstGeom prst="rect">
            <a:avLst/>
          </a:prstGeom>
        </p:spPr>
      </p:pic>
      <p:pic>
        <p:nvPicPr>
          <p:cNvPr id="3" name="Picture 2" descr="s1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9184"/>
            <a:ext cx="1517904" cy="1344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0" y="612648"/>
            <a:ext cx="7498079" cy="646331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000000"/>
                </a:solidFill>
                <a:latin typeface="Times New Roman"/>
              </a:defRPr>
            </a:pPr>
            <a:r>
              <a:rPr sz="3600" dirty="0"/>
              <a:t>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10561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Java – core application logic and security-related processing.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Spring Boot – backend framework for authentication, OTP verification, APIs, and business logic.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HTML, CSS, JavaScript – web interface and user interaction.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MySQL – database for user accounts and protected password records.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AES-256 Encryption – used to encrypt sensitive password data where applicable.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</a:t>
            </a:r>
            <a:r>
              <a:rPr dirty="0" err="1"/>
              <a:t>Git</a:t>
            </a:r>
            <a:r>
              <a:rPr dirty="0"/>
              <a:t> &amp; </a:t>
            </a:r>
            <a:r>
              <a:rPr dirty="0" err="1"/>
              <a:t>GitHub</a:t>
            </a:r>
            <a:r>
              <a:rPr dirty="0"/>
              <a:t> – source-code version control, collaboration, and project management.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Visual Studio Code – coding, debugging, and project maintenance.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6419088"/>
            <a:ext cx="6400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5488"/>
            <a:ext cx="1133856" cy="1344168"/>
          </a:xfrm>
          <a:prstGeom prst="rect">
            <a:avLst/>
          </a:prstGeom>
        </p:spPr>
      </p:pic>
      <p:pic>
        <p:nvPicPr>
          <p:cNvPr id="3" name="Picture 2" descr="s1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9184"/>
            <a:ext cx="1517904" cy="1344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0" y="612648"/>
            <a:ext cx="7498079" cy="7132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000000"/>
                </a:solidFill>
                <a:latin typeface="Times New Roman"/>
              </a:defRPr>
            </a:pPr>
            <a:r>
              <a:t>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4995" y="2409825"/>
            <a:ext cx="1691640" cy="96012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latin typeface="Times New Roman"/>
              </a:defRPr>
            </a:pPr>
            <a:r>
              <a:rPr sz="1200">
                <a:solidFill>
                  <a:schemeClr val="tx1"/>
                </a:solidFill>
              </a:rPr>
              <a:t>1. REQUIREMENTS</a:t>
            </a:r>
            <a:br>
              <a:rPr sz="1200">
                <a:solidFill>
                  <a:schemeClr val="tx1"/>
                </a:solidFill>
              </a:rPr>
            </a:br>
            <a:r>
              <a:rPr sz="1200">
                <a:solidFill>
                  <a:schemeClr val="tx1"/>
                </a:solidFill>
              </a:rPr>
              <a:t>Security,</a:t>
            </a:r>
            <a:br>
              <a:rPr sz="1200">
                <a:solidFill>
                  <a:schemeClr val="tx1"/>
                </a:solidFill>
              </a:rPr>
            </a:br>
            <a:r>
              <a:rPr sz="1200">
                <a:solidFill>
                  <a:schemeClr val="tx1"/>
                </a:solidFill>
              </a:rPr>
              <a:t>functional &amp; user needs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70955" y="2409825"/>
            <a:ext cx="1691640" cy="960120"/>
          </a:xfrm>
          <a:prstGeom prst="roundRect">
            <a:avLst/>
          </a:prstGeom>
          <a:solidFill>
            <a:srgbClr val="E4F0E2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latin typeface="Times New Roman"/>
              </a:defRPr>
            </a:pPr>
            <a:r>
              <a:rPr sz="1200">
                <a:solidFill>
                  <a:schemeClr val="tx1"/>
                </a:solidFill>
              </a:rPr>
              <a:t>2. SYSTEM DESIGN</a:t>
            </a:r>
            <a:br>
              <a:rPr sz="1200">
                <a:solidFill>
                  <a:schemeClr val="tx1"/>
                </a:solidFill>
              </a:rPr>
            </a:br>
            <a:r>
              <a:rPr sz="1200">
                <a:solidFill>
                  <a:schemeClr val="tx1"/>
                </a:solidFill>
              </a:rPr>
              <a:t>Architecture,</a:t>
            </a:r>
            <a:br>
              <a:rPr sz="1200">
                <a:solidFill>
                  <a:schemeClr val="tx1"/>
                </a:solidFill>
              </a:rPr>
            </a:br>
            <a:r>
              <a:rPr sz="1200">
                <a:solidFill>
                  <a:schemeClr val="tx1"/>
                </a:solidFill>
              </a:rPr>
              <a:t>database &amp;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6915" y="2409825"/>
            <a:ext cx="1691640" cy="960120"/>
          </a:xfrm>
          <a:prstGeom prst="roundRect">
            <a:avLst/>
          </a:prstGeom>
          <a:solidFill>
            <a:srgbClr val="EDE5F7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latin typeface="Times New Roman"/>
              </a:defRPr>
            </a:pPr>
            <a:r>
              <a:rPr sz="1200">
                <a:solidFill>
                  <a:schemeClr val="tx1"/>
                </a:solidFill>
              </a:rPr>
              <a:t>3. AUTHENTICATION</a:t>
            </a:r>
            <a:br>
              <a:rPr sz="1200">
                <a:solidFill>
                  <a:schemeClr val="tx1"/>
                </a:solidFill>
              </a:rPr>
            </a:br>
            <a:r>
              <a:rPr sz="1200">
                <a:solidFill>
                  <a:schemeClr val="tx1"/>
                </a:solidFill>
              </a:rPr>
              <a:t>Registration,</a:t>
            </a:r>
            <a:br>
              <a:rPr sz="1200">
                <a:solidFill>
                  <a:schemeClr val="tx1"/>
                </a:solidFill>
              </a:rPr>
            </a:br>
            <a:r>
              <a:rPr sz="1200">
                <a:solidFill>
                  <a:schemeClr val="tx1"/>
                </a:solidFill>
              </a:rPr>
              <a:t>login &amp;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2875" y="2409825"/>
            <a:ext cx="1691640" cy="960120"/>
          </a:xfrm>
          <a:prstGeom prst="roundRect">
            <a:avLst/>
          </a:prstGeom>
          <a:solidFill>
            <a:srgbClr val="F9EEDE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latin typeface="Times New Roman"/>
              </a:defRPr>
            </a:pPr>
            <a:r>
              <a:rPr sz="1200">
                <a:solidFill>
                  <a:schemeClr val="tx1"/>
                </a:solidFill>
              </a:rPr>
              <a:t>4. CREDENTIAL SECURITY</a:t>
            </a:r>
            <a:br>
              <a:rPr sz="1200">
                <a:solidFill>
                  <a:schemeClr val="tx1"/>
                </a:solidFill>
              </a:rPr>
            </a:br>
            <a:r>
              <a:rPr sz="1200">
                <a:solidFill>
                  <a:schemeClr val="tx1"/>
                </a:solidFill>
              </a:rPr>
              <a:t>Encrypt/store</a:t>
            </a:r>
            <a:br>
              <a:rPr sz="1200">
                <a:solidFill>
                  <a:schemeClr val="tx1"/>
                </a:solidFill>
              </a:rPr>
            </a:br>
            <a:r>
              <a:rPr sz="1200">
                <a:solidFill>
                  <a:schemeClr val="tx1"/>
                </a:solidFill>
              </a:rPr>
              <a:t>protected passwords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4995" y="4421505"/>
            <a:ext cx="1691640" cy="960120"/>
          </a:xfrm>
          <a:prstGeom prst="roundRect">
            <a:avLst/>
          </a:prstGeom>
          <a:solidFill>
            <a:srgbClr val="EDE5F7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latin typeface="Times New Roman"/>
              </a:defRPr>
            </a:pPr>
            <a:r>
              <a:rPr sz="1200">
                <a:solidFill>
                  <a:schemeClr val="tx1"/>
                </a:solidFill>
              </a:rPr>
              <a:t>5. MFA</a:t>
            </a:r>
            <a:br>
              <a:rPr sz="1200">
                <a:solidFill>
                  <a:schemeClr val="tx1"/>
                </a:solidFill>
              </a:rPr>
            </a:br>
            <a:r>
              <a:rPr sz="1200">
                <a:solidFill>
                  <a:schemeClr val="tx1"/>
                </a:solidFill>
              </a:rPr>
              <a:t>Generate, deliver</a:t>
            </a:r>
            <a:br>
              <a:rPr sz="1200">
                <a:solidFill>
                  <a:schemeClr val="tx1"/>
                </a:solidFill>
              </a:rPr>
            </a:br>
            <a:r>
              <a:rPr sz="1200">
                <a:solidFill>
                  <a:schemeClr val="tx1"/>
                </a:solidFill>
              </a:rPr>
              <a:t>&amp; verify OTP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70955" y="4421505"/>
            <a:ext cx="1691640" cy="96012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latin typeface="Times New Roman"/>
              </a:defRPr>
            </a:pPr>
            <a:r>
              <a:rPr sz="1200">
                <a:solidFill>
                  <a:schemeClr val="tx1"/>
                </a:solidFill>
              </a:rPr>
              <a:t>6. MANAGEMENT</a:t>
            </a:r>
            <a:br>
              <a:rPr sz="1200">
                <a:solidFill>
                  <a:schemeClr val="tx1"/>
                </a:solidFill>
              </a:rPr>
            </a:br>
            <a:r>
              <a:rPr sz="1200">
                <a:solidFill>
                  <a:schemeClr val="tx1"/>
                </a:solidFill>
              </a:rPr>
              <a:t>Retrieve/update</a:t>
            </a:r>
            <a:br>
              <a:rPr sz="1200">
                <a:solidFill>
                  <a:schemeClr val="tx1"/>
                </a:solidFill>
              </a:rPr>
            </a:br>
            <a:r>
              <a:rPr sz="1200">
                <a:solidFill>
                  <a:schemeClr val="tx1"/>
                </a:solidFill>
              </a:rPr>
              <a:t>credentials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6915" y="4421505"/>
            <a:ext cx="1691640" cy="960120"/>
          </a:xfrm>
          <a:prstGeom prst="roundRect">
            <a:avLst/>
          </a:prstGeom>
          <a:solidFill>
            <a:srgbClr val="E4F0E2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latin typeface="Times New Roman"/>
              </a:defRPr>
            </a:pPr>
            <a:r>
              <a:rPr sz="1200">
                <a:solidFill>
                  <a:schemeClr val="tx1"/>
                </a:solidFill>
              </a:rPr>
              <a:t>7. AUDIT</a:t>
            </a:r>
            <a:br>
              <a:rPr sz="1200">
                <a:solidFill>
                  <a:schemeClr val="tx1"/>
                </a:solidFill>
              </a:rPr>
            </a:br>
            <a:r>
              <a:rPr sz="1200">
                <a:solidFill>
                  <a:schemeClr val="tx1"/>
                </a:solidFill>
              </a:rPr>
              <a:t>Record security</a:t>
            </a:r>
            <a:br>
              <a:rPr sz="1200">
                <a:solidFill>
                  <a:schemeClr val="tx1"/>
                </a:solidFill>
              </a:rPr>
            </a:br>
            <a:r>
              <a:rPr sz="1200">
                <a:solidFill>
                  <a:schemeClr val="tx1"/>
                </a:solidFill>
              </a:rPr>
              <a:t>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2875" y="4421505"/>
            <a:ext cx="1691640" cy="960120"/>
          </a:xfrm>
          <a:prstGeom prst="roundRect">
            <a:avLst/>
          </a:prstGeom>
          <a:solidFill>
            <a:srgbClr val="F9EEDE"/>
          </a:solidFill>
          <a:ln w="15240"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latin typeface="Times New Roman"/>
              </a:defRPr>
            </a:pPr>
            <a:r>
              <a:rPr sz="1200">
                <a:solidFill>
                  <a:schemeClr val="tx1"/>
                </a:solidFill>
              </a:rPr>
              <a:t>8. TESTING</a:t>
            </a:r>
            <a:br>
              <a:rPr sz="1200">
                <a:solidFill>
                  <a:schemeClr val="tx1"/>
                </a:solidFill>
              </a:rPr>
            </a:br>
            <a:r>
              <a:rPr sz="1200">
                <a:solidFill>
                  <a:schemeClr val="tx1"/>
                </a:solidFill>
              </a:rPr>
              <a:t>Functional + security</a:t>
            </a:r>
            <a:br>
              <a:rPr sz="1200">
                <a:solidFill>
                  <a:schemeClr val="tx1"/>
                </a:solidFill>
              </a:rPr>
            </a:br>
            <a:r>
              <a:rPr sz="1200">
                <a:solidFill>
                  <a:schemeClr val="tx1"/>
                </a:solidFill>
              </a:rPr>
              <a:t>verification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96635" y="2894457"/>
            <a:ext cx="274319" cy="0"/>
          </a:xfrm>
          <a:prstGeom prst="line">
            <a:avLst/>
          </a:prstGeom>
          <a:ln w="17780">
            <a:solidFill>
              <a:srgbClr val="1F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62595" y="2894457"/>
            <a:ext cx="274320" cy="0"/>
          </a:xfrm>
          <a:prstGeom prst="line">
            <a:avLst/>
          </a:prstGeom>
          <a:ln w="17780">
            <a:solidFill>
              <a:srgbClr val="1F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28555" y="2894457"/>
            <a:ext cx="274320" cy="0"/>
          </a:xfrm>
          <a:prstGeom prst="line">
            <a:avLst/>
          </a:prstGeom>
          <a:ln w="17780">
            <a:solidFill>
              <a:srgbClr val="1F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44123" y="3369945"/>
            <a:ext cx="0" cy="1051560"/>
          </a:xfrm>
          <a:prstGeom prst="line">
            <a:avLst/>
          </a:prstGeom>
          <a:ln w="17780">
            <a:solidFill>
              <a:srgbClr val="1F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796635" y="4906137"/>
            <a:ext cx="274319" cy="0"/>
          </a:xfrm>
          <a:prstGeom prst="line">
            <a:avLst/>
          </a:prstGeom>
          <a:ln w="17780">
            <a:solidFill>
              <a:srgbClr val="1F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762595" y="4906137"/>
            <a:ext cx="274320" cy="0"/>
          </a:xfrm>
          <a:prstGeom prst="line">
            <a:avLst/>
          </a:prstGeom>
          <a:ln w="17780">
            <a:solidFill>
              <a:srgbClr val="1F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28555" y="4906137"/>
            <a:ext cx="274320" cy="0"/>
          </a:xfrm>
          <a:prstGeom prst="line">
            <a:avLst/>
          </a:prstGeom>
          <a:ln w="17780">
            <a:solidFill>
              <a:srgbClr val="1F3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23560" y="6419088"/>
            <a:ext cx="6400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5488"/>
            <a:ext cx="1133856" cy="1344168"/>
          </a:xfrm>
          <a:prstGeom prst="rect">
            <a:avLst/>
          </a:prstGeom>
        </p:spPr>
      </p:pic>
      <p:pic>
        <p:nvPicPr>
          <p:cNvPr id="3" name="Picture 2" descr="s1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9184"/>
            <a:ext cx="1517904" cy="1344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9244" y="708880"/>
            <a:ext cx="7498079" cy="584775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000000"/>
                </a:solidFill>
                <a:latin typeface="Times New Roman"/>
              </a:defRPr>
            </a:pPr>
            <a:r>
              <a:rPr sz="3200" dirty="0"/>
              <a:t>MODULE 1: USER REGISTRATION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37838"/>
            <a:ext cx="10561320" cy="2885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Create a new user account through the registration interface.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Validate required user information and authentication fields.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Enforce password-strength rules before account creation.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Store required user details securely in the database.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Prevent duplicate or invalid account registration.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Output: registered user account ready for authenticated login.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6419088"/>
            <a:ext cx="6400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5488"/>
            <a:ext cx="1133856" cy="1344168"/>
          </a:xfrm>
          <a:prstGeom prst="rect">
            <a:avLst/>
          </a:prstGeom>
        </p:spPr>
      </p:pic>
      <p:pic>
        <p:nvPicPr>
          <p:cNvPr id="3" name="Picture 2" descr="s1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9184"/>
            <a:ext cx="1517904" cy="1344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94560" y="790956"/>
            <a:ext cx="7498079" cy="95410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000000"/>
                </a:solidFill>
                <a:latin typeface="Times New Roman"/>
              </a:defRPr>
            </a:pPr>
            <a:r>
              <a:rPr sz="2800" dirty="0"/>
              <a:t>MODULE 2: PASSWORD ENCRYPTION &amp;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20613"/>
            <a:ext cx="10561320" cy="2885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Allow authenticated users to save credentials for different websites or services.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Protect sensitive password values before storing them in the database.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Use appropriate cryptographic protection and secure database access.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Associate stored credentials with the authenticated user.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Prevent unauthorized users from directly accessing protected vault records.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Output: protected credential records stored in the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6419088"/>
            <a:ext cx="6400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5488"/>
            <a:ext cx="1133856" cy="1344168"/>
          </a:xfrm>
          <a:prstGeom prst="rect">
            <a:avLst/>
          </a:prstGeom>
        </p:spPr>
      </p:pic>
      <p:pic>
        <p:nvPicPr>
          <p:cNvPr id="3" name="Picture 2" descr="s1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9184"/>
            <a:ext cx="1517904" cy="1344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0" y="612648"/>
            <a:ext cx="7498079" cy="95410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000000"/>
                </a:solidFill>
                <a:latin typeface="Times New Roman"/>
              </a:defRPr>
            </a:pPr>
            <a:r>
              <a:rPr sz="2800" dirty="0"/>
              <a:t>MODULE 3: OTP / MULTI-FACTOR AUTHENTICATION (MFA)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4058"/>
            <a:ext cx="10561320" cy="325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Generate a unique 6-digit One-Time Password after successful primary authentication.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Deliver the OTP through the configured communication mechanism.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Verify the OTP entered by the user before granting protected access.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Reject incorrect OTPs and prevent expired OTPs from being accepted.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Limit repeated verification attempts to reduce OTP guessing attacks.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Output: successful MFA verification or access denial.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6419088"/>
            <a:ext cx="6400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5488"/>
            <a:ext cx="1133856" cy="1344168"/>
          </a:xfrm>
          <a:prstGeom prst="rect">
            <a:avLst/>
          </a:prstGeom>
        </p:spPr>
      </p:pic>
      <p:pic>
        <p:nvPicPr>
          <p:cNvPr id="3" name="Picture 2" descr="s1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9184"/>
            <a:ext cx="1517904" cy="1344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08860" y="631327"/>
            <a:ext cx="7498079" cy="95410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000000"/>
                </a:solidFill>
                <a:latin typeface="Times New Roman"/>
              </a:defRPr>
            </a:pPr>
            <a:r>
              <a:rPr sz="2800" dirty="0"/>
              <a:t>MODULE 4: PASSWORD RETRIEVAL &amp; AUDIT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39" y="2284750"/>
            <a:ext cx="10561320" cy="2885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Retrieve saved credentials only after successful authentication and MFA.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Display or manage protected credentials through the password vault interface.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Support password additions, updates, and deletions.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Record login history and defined authentication events.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Track password-management activities for accountability.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sz="2400" dirty="0"/>
              <a:t>• Output: controlled credential access with an auditable activity trail.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6419088"/>
            <a:ext cx="6400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5488"/>
            <a:ext cx="1133856" cy="1344168"/>
          </a:xfrm>
          <a:prstGeom prst="rect">
            <a:avLst/>
          </a:prstGeom>
        </p:spPr>
      </p:pic>
      <p:pic>
        <p:nvPicPr>
          <p:cNvPr id="3" name="Picture 2" descr="s1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9184"/>
            <a:ext cx="1517904" cy="1344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0" y="612648"/>
            <a:ext cx="7498079" cy="646331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000000"/>
                </a:solidFill>
                <a:latin typeface="Times New Roman"/>
              </a:defRPr>
            </a:pPr>
            <a:r>
              <a:rPr sz="3600" dirty="0"/>
              <a:t>RESULTS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6419088"/>
            <a:ext cx="6400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t>19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66" y="2406320"/>
            <a:ext cx="5392894" cy="3033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5943600" y="2195305"/>
            <a:ext cx="6096000" cy="36240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GB" dirty="0"/>
              <a:t>• Successful primary authentication confirms that the registration and login workflow operates as intended.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GB" dirty="0"/>
              <a:t>• OTP testing verifies handling of valid, invalid, and expired verification codes.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GB" dirty="0"/>
              <a:t>• Protected credential storage reduces exposure of sensitive password data compared with plaintext storage.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GB" dirty="0"/>
              <a:t>• Access-control testing demonstrates that protected vault functions depend on successful authentication and MFA.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GB" dirty="0"/>
              <a:t>• Audit logs provide traceability for defined authentication and password-management activities.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GB" dirty="0"/>
              <a:t>• Response time depends on application processing, database operations, and network/OTP delivery conditions.</a:t>
            </a:r>
            <a:endParaRPr lang="en-GB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5488"/>
            <a:ext cx="1133856" cy="1344168"/>
          </a:xfrm>
          <a:prstGeom prst="rect">
            <a:avLst/>
          </a:prstGeom>
        </p:spPr>
      </p:pic>
      <p:pic>
        <p:nvPicPr>
          <p:cNvPr id="3" name="Picture 2" descr="s1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9184"/>
            <a:ext cx="1517904" cy="1344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08860" y="623511"/>
            <a:ext cx="7498079" cy="584775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000000"/>
                </a:solidFill>
                <a:latin typeface="Times New Roman"/>
              </a:defRPr>
            </a:pPr>
            <a:r>
              <a:rPr sz="3200" dirty="0"/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10561320" cy="5070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The project developed a secure password-management solution combining credential protection with OTP-based MFA.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The architecture addresses the weakness of relying only on a password for access to a high-value credential vault.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The four modules provide registration, protected storage, MFA verification, password management, and auditability.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Functional and security-oriented testing provides evidence for authentication, OTP, access-control, and storage requirements.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Future work includes biometric authentication, authenticator-app support, password-strength analysis, breach monitoring, browser/mobile integration, and suspicious-login detection.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2200" dirty="0"/>
              <a:t>• The proposed system provides a practical software-based foundation for stronger personal credential security.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6419088"/>
            <a:ext cx="6400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5488"/>
            <a:ext cx="1133856" cy="1344168"/>
          </a:xfrm>
          <a:prstGeom prst="rect">
            <a:avLst/>
          </a:prstGeom>
        </p:spPr>
      </p:pic>
      <p:pic>
        <p:nvPicPr>
          <p:cNvPr id="3" name="Picture 2" descr="s1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9184"/>
            <a:ext cx="1517904" cy="1344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0" y="612648"/>
            <a:ext cx="7498079" cy="646331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000000"/>
                </a:solidFill>
                <a:latin typeface="Times New Roman"/>
              </a:defRPr>
            </a:pPr>
            <a:r>
              <a:rPr sz="3600" dirty="0"/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51080"/>
            <a:ext cx="10789920" cy="4562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latin typeface="Times New Roman"/>
              </a:defRPr>
            </a:pPr>
            <a:r>
              <a:rPr sz="1700" dirty="0" smtClean="0"/>
              <a:t>[1] M. </a:t>
            </a:r>
            <a:r>
              <a:rPr sz="1700" dirty="0" err="1" smtClean="0"/>
              <a:t>Jubur</a:t>
            </a:r>
            <a:r>
              <a:rPr sz="1700" dirty="0" smtClean="0"/>
              <a:t>, P. </a:t>
            </a:r>
            <a:r>
              <a:rPr sz="1700" dirty="0" err="1" smtClean="0"/>
              <a:t>Shrestha</a:t>
            </a:r>
            <a:r>
              <a:rPr sz="1700" dirty="0" smtClean="0"/>
              <a:t>, and N. </a:t>
            </a:r>
            <a:r>
              <a:rPr sz="1700" dirty="0" err="1" smtClean="0"/>
              <a:t>Saxena</a:t>
            </a:r>
            <a:r>
              <a:rPr sz="1700" dirty="0" smtClean="0"/>
              <a:t>, “An in-depth analysis of password managers and two-factor authentication tools,” ACM Computing Surveys, 2025.</a:t>
            </a:r>
          </a:p>
          <a:p>
            <a:pPr>
              <a:spcAft>
                <a:spcPts val="900"/>
              </a:spcAft>
              <a:defRPr sz="1200">
                <a:latin typeface="Times New Roman"/>
              </a:defRPr>
            </a:pPr>
            <a:r>
              <a:rPr sz="1700" dirty="0" smtClean="0"/>
              <a:t>[2] A. </a:t>
            </a:r>
            <a:r>
              <a:rPr sz="1700" dirty="0" err="1" smtClean="0"/>
              <a:t>Fábrega</a:t>
            </a:r>
            <a:r>
              <a:rPr sz="1700" dirty="0" smtClean="0"/>
              <a:t> et al., “Exploiting leakage in password managers via injection attacks,” Proc. USENIX Security Symposium, 2024.</a:t>
            </a:r>
          </a:p>
          <a:p>
            <a:pPr>
              <a:spcAft>
                <a:spcPts val="900"/>
              </a:spcAft>
              <a:defRPr sz="1200">
                <a:latin typeface="Times New Roman"/>
              </a:defRPr>
            </a:pPr>
            <a:r>
              <a:rPr sz="1700" dirty="0" smtClean="0"/>
              <a:t>[3] S. </a:t>
            </a:r>
            <a:r>
              <a:rPr sz="1700" dirty="0" err="1" smtClean="0"/>
              <a:t>Amft</a:t>
            </a:r>
            <a:r>
              <a:rPr sz="1700" dirty="0" smtClean="0"/>
              <a:t> et al., “We’ve disabled MFA for you: An evaluation of the security and usability of multi-factor authentication recovery deployments,” ACM CCS, 2023.</a:t>
            </a:r>
          </a:p>
          <a:p>
            <a:pPr>
              <a:spcAft>
                <a:spcPts val="900"/>
              </a:spcAft>
              <a:defRPr sz="1200">
                <a:latin typeface="Times New Roman"/>
              </a:defRPr>
            </a:pPr>
            <a:r>
              <a:rPr sz="1700" dirty="0" smtClean="0"/>
              <a:t>[4] N. </a:t>
            </a:r>
            <a:r>
              <a:rPr sz="1700" dirty="0" err="1" smtClean="0"/>
              <a:t>Huaman</a:t>
            </a:r>
            <a:r>
              <a:rPr sz="1700" dirty="0" smtClean="0"/>
              <a:t> et al., “Passwords to-go: Investigating multifaceted challenges for password managers in the Android ecosystem,” ACSAC, 2024.</a:t>
            </a:r>
          </a:p>
          <a:p>
            <a:pPr>
              <a:spcAft>
                <a:spcPts val="900"/>
              </a:spcAft>
              <a:defRPr sz="1200">
                <a:latin typeface="Times New Roman"/>
              </a:defRPr>
            </a:pPr>
            <a:r>
              <a:rPr sz="1700" dirty="0" smtClean="0"/>
              <a:t>[5] S. </a:t>
            </a:r>
            <a:r>
              <a:rPr sz="1700" dirty="0" err="1" smtClean="0"/>
              <a:t>Klivan</a:t>
            </a:r>
            <a:r>
              <a:rPr sz="1700" dirty="0" smtClean="0"/>
              <a:t> et al., “Exploring credential management strategies and obstacles during password manager setup,” SOUPS, 2023.</a:t>
            </a:r>
          </a:p>
          <a:p>
            <a:pPr>
              <a:spcAft>
                <a:spcPts val="900"/>
              </a:spcAft>
              <a:defRPr sz="1200">
                <a:latin typeface="Times New Roman"/>
              </a:defRPr>
            </a:pPr>
            <a:r>
              <a:rPr sz="1700" dirty="0" smtClean="0"/>
              <a:t>[6] National Institute of Standards and Technology, “Digital Identity Guidelines: Authentication and Authenticator Management,” NIST SP 800-63B-4, 2025.</a:t>
            </a:r>
          </a:p>
          <a:p>
            <a:pPr>
              <a:spcAft>
                <a:spcPts val="900"/>
              </a:spcAft>
              <a:defRPr sz="1200">
                <a:latin typeface="Times New Roman"/>
              </a:defRPr>
            </a:pPr>
            <a:r>
              <a:rPr sz="1700" dirty="0" smtClean="0"/>
              <a:t>[7] OWASP Foundation, “OWASP Application Security Verification Standard (ASVS),” Version 5.0.0, 2025.</a:t>
            </a:r>
          </a:p>
          <a:p>
            <a:pPr>
              <a:spcAft>
                <a:spcPts val="900"/>
              </a:spcAft>
              <a:defRPr sz="1200">
                <a:latin typeface="Times New Roman"/>
              </a:defRPr>
            </a:pPr>
            <a:r>
              <a:rPr sz="1700" dirty="0" smtClean="0"/>
              <a:t>[8] D. </a:t>
            </a:r>
            <a:r>
              <a:rPr sz="1700" dirty="0" err="1" smtClean="0"/>
              <a:t>M’Raihi</a:t>
            </a:r>
            <a:r>
              <a:rPr sz="1700" dirty="0" smtClean="0"/>
              <a:t> et al., “TOTP: Time-Based One-Time Password Algorithm,” RFC 6238, IETF, 2011.</a:t>
            </a:r>
            <a:endParaRPr sz="1700" dirty="0"/>
          </a:p>
        </p:txBody>
      </p:sp>
      <p:sp>
        <p:nvSpPr>
          <p:cNvPr id="6" name="TextBox 5"/>
          <p:cNvSpPr txBox="1"/>
          <p:nvPr/>
        </p:nvSpPr>
        <p:spPr>
          <a:xfrm>
            <a:off x="5623560" y="6419088"/>
            <a:ext cx="6400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5488"/>
            <a:ext cx="1133856" cy="1344168"/>
          </a:xfrm>
          <a:prstGeom prst="rect">
            <a:avLst/>
          </a:prstGeom>
        </p:spPr>
      </p:pic>
      <p:pic>
        <p:nvPicPr>
          <p:cNvPr id="3" name="Picture 2" descr="s1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9184"/>
            <a:ext cx="1517904" cy="13441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29187" y="2774462"/>
            <a:ext cx="72093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2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  <a:endParaRPr lang="en-IN" sz="72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1640</Words>
  <Application>Microsoft Office PowerPoint</Application>
  <PresentationFormat>Custom</PresentationFormat>
  <Paragraphs>173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TEJU</cp:lastModifiedBy>
  <cp:revision>5</cp:revision>
  <dcterms:created xsi:type="dcterms:W3CDTF">2013-01-27T09:14:16Z</dcterms:created>
  <dcterms:modified xsi:type="dcterms:W3CDTF">2026-09-02T15:50:45Z</dcterms:modified>
  <cp:category/>
</cp:coreProperties>
</file>